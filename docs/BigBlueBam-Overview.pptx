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0" y="1280160"/>
            <a:ext cx="91440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800" b="1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BigBlueBam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749039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0">
                <a:solidFill>
                  <a:srgbClr val="A1A1AA"/>
                </a:solidFill>
                <a:latin typeface="Segoe UI"/>
              </a:defRPr>
            </a:pPr>
            <a:r>
              <a:t>Project management built for human-AI teams.</a:t>
            </a:r>
          </a:p>
          <a:p>
            <a:pPr algn="ctr">
              <a:spcBef>
                <a:spcPts val="1200"/>
              </a:spcBef>
              <a:defRPr sz="1800" b="0">
                <a:solidFill>
                  <a:srgbClr val="52525B"/>
                </a:solidFill>
                <a:latin typeface="Segoe UI"/>
              </a:defRPr>
            </a:pPr>
            <a:r>
              <a:t>Engineers set the strategy. AI agents handle the grunt work. Everyone sees it on the 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5120640"/>
            <a:ext cx="15544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140 MCP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5120640"/>
            <a:ext cx="155448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14 Docker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5120640"/>
            <a:ext cx="1554480" cy="34747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530+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5120640"/>
            <a:ext cx="1554480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 Apps, 1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Four apps, one platform</a:t>
            </a:r>
          </a:p>
          <a:p>
            <a:pPr>
              <a:spcBef>
                <a:spcPts val="800"/>
              </a:spcBef>
              <a:defRPr sz="1800" b="0">
                <a:solidFill>
                  <a:srgbClr val="A1A1AA"/>
                </a:solidFill>
                <a:latin typeface="Segoe UI"/>
              </a:defRPr>
            </a:pPr>
            <a:r>
              <a:t>Shared auth, shared database, shared MCP server — zero integration overhead.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64592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783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  <a:latin typeface="Segoe UI"/>
              </a:defRPr>
            </a:pPr>
            <a:r>
              <a:t>Bam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40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Segoe UI"/>
              </a:defRPr>
            </a:pPr>
            <a:r>
              <a:t>Kanban boards, sprints, tasks,</a:t>
            </a:r>
            <a:br/>
            <a:r>
              <a:t>project dashboard, team management</a:t>
            </a:r>
          </a:p>
        </p:txBody>
      </p:sp>
      <p:pic>
        <p:nvPicPr>
          <p:cNvPr id="6" name="Picture 5" descr="03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108960"/>
            <a:ext cx="2743200" cy="1714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91840" y="1645920"/>
            <a:ext cx="27432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783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6A34A"/>
                </a:solidFill>
                <a:latin typeface="Segoe UI"/>
              </a:defRPr>
            </a:pPr>
            <a:r>
              <a:t>Helpdesk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40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Segoe UI"/>
              </a:defRPr>
            </a:pPr>
            <a:r>
              <a:t>Customer support tickets,</a:t>
            </a:r>
            <a:br/>
            <a:r>
              <a:t>AI triage, auto-linked tasks</a:t>
            </a:r>
          </a:p>
        </p:txBody>
      </p:sp>
      <p:pic>
        <p:nvPicPr>
          <p:cNvPr id="10" name="Picture 9" descr="16-helpdesk-tick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108960"/>
            <a:ext cx="2743200" cy="1714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1645920"/>
            <a:ext cx="27432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Beacon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40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Segoe UI"/>
              </a:defRPr>
            </a:pPr>
            <a:r>
              <a:t>Knowledge base, semantic search,</a:t>
            </a:r>
            <a:br/>
            <a:r>
              <a:t>graph explorer, expiry governance</a:t>
            </a:r>
          </a:p>
        </p:txBody>
      </p:sp>
      <p:pic>
        <p:nvPicPr>
          <p:cNvPr id="14" name="Picture 13" descr="beacon-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108960"/>
            <a:ext cx="2743200" cy="17145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144000" y="164592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783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C3AED"/>
                </a:solidFill>
                <a:latin typeface="Segoe UI"/>
              </a:defRPr>
            </a:pPr>
            <a:r>
              <a:t>Banter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240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Segoe UI"/>
              </a:defRPr>
            </a:pPr>
            <a:r>
              <a:t>Team messaging, channels, DMs,</a:t>
            </a:r>
            <a:br/>
            <a:r>
              <a:t>threads, voice/video, AI agents</a:t>
            </a:r>
          </a:p>
        </p:txBody>
      </p:sp>
      <p:pic>
        <p:nvPicPr>
          <p:cNvPr id="18" name="Picture 17" descr="banter-channe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108960"/>
            <a:ext cx="27432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Rapid-Fire Feature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A1A1AA"/>
                </a:solidFill>
                <a:latin typeface="Segoe UI"/>
              </a:defRPr>
            </a:pPr>
            <a:r>
              <a:t>One slide per major capability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Kanban Board — Drag-and-Drop with Spring Physics</a:t>
            </a:r>
          </a:p>
        </p:txBody>
      </p:sp>
      <p:pic>
        <p:nvPicPr>
          <p:cNvPr id="3" name="Picture 2" descr="03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6686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A1A1AA"/>
                </a:solidFill>
                <a:latin typeface="Segoe UI"/>
              </a:defRPr>
            </a:pPr>
            <a:r>
              <a:t>5 configurable phases  ·  WIP limits  ·  Priority, assignee, points, due date on every card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Swimlanes &amp; Multiple Views</a:t>
            </a:r>
          </a:p>
        </p:txBody>
      </p:sp>
      <p:pic>
        <p:nvPicPr>
          <p:cNvPr id="3" name="Picture 2" descr="05-swimla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Swimlanes — group by assignee, priority, or epic</a:t>
            </a:r>
          </a:p>
        </p:txBody>
      </p:sp>
      <p:pic>
        <p:nvPicPr>
          <p:cNvPr id="5" name="Picture 4" descr="06-list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List view — sortable columns, inline editing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Timeline &amp; Calendar</a:t>
            </a:r>
          </a:p>
        </p:txBody>
      </p:sp>
      <p:pic>
        <p:nvPicPr>
          <p:cNvPr id="3" name="Picture 2" descr="07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Gantt-style timeline with today marker</a:t>
            </a:r>
          </a:p>
        </p:txBody>
      </p:sp>
      <p:pic>
        <p:nvPicPr>
          <p:cNvPr id="5" name="Picture 4" descr="08-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Monthly calendar with task due dates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Detail &amp; Project Dashboard</a:t>
            </a:r>
          </a:p>
        </p:txBody>
      </p:sp>
      <p:pic>
        <p:nvPicPr>
          <p:cNvPr id="3" name="Picture 2" descr="04-task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Rich-text, subtasks, attachments, comments, activity</a:t>
            </a:r>
          </a:p>
        </p:txBody>
      </p:sp>
      <p:pic>
        <p:nvPicPr>
          <p:cNvPr id="5" name="Picture 4" descr="09-project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Sprint progress, priority breakdown, overdue tasks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Power User Tools</a:t>
            </a:r>
          </a:p>
        </p:txBody>
      </p:sp>
      <p:pic>
        <p:nvPicPr>
          <p:cNvPr id="3" name="Picture 2" descr="14-command-pal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Command palette — Ctrl+K to search and navigate</a:t>
            </a:r>
          </a:p>
        </p:txBody>
      </p:sp>
      <p:pic>
        <p:nvPicPr>
          <p:cNvPr id="5" name="Picture 4" descr="10-my-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My Work — cross-project view of your assignments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Organization &amp; People Management</a:t>
            </a:r>
          </a:p>
        </p:txBody>
      </p:sp>
      <p:pic>
        <p:nvPicPr>
          <p:cNvPr id="3" name="Picture 2" descr="people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Searchable, filterable, bulk-selectable people list</a:t>
            </a:r>
          </a:p>
        </p:txBody>
      </p:sp>
      <p:pic>
        <p:nvPicPr>
          <p:cNvPr id="5" name="Picture 4" descr="people-detail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Per-user detail with identity, projects, access, activity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SuperUser Console</a:t>
            </a:r>
          </a:p>
        </p:txBody>
      </p:sp>
      <p:pic>
        <p:nvPicPr>
          <p:cNvPr id="3" name="Picture 2" descr="superuser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Cross-org platform overview</a:t>
            </a:r>
          </a:p>
        </p:txBody>
      </p:sp>
      <p:pic>
        <p:nvPicPr>
          <p:cNvPr id="5" name="Picture 4" descr="superuser-people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Global user management — every user across every 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Helpdesk — Customer Support Portal</a:t>
            </a:r>
          </a:p>
        </p:txBody>
      </p:sp>
      <p:pic>
        <p:nvPicPr>
          <p:cNvPr id="3" name="Picture 2" descr="16-helpdesk-ti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Customers submit and track support tickets</a:t>
            </a:r>
          </a:p>
        </p:txBody>
      </p:sp>
      <p:pic>
        <p:nvPicPr>
          <p:cNvPr id="5" name="Picture 4" descr="17-helpdesk-convers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Ticket detail with full conversation thread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Beacon — Knowledge Base</a:t>
            </a:r>
          </a:p>
        </p:txBody>
      </p:sp>
      <p:pic>
        <p:nvPicPr>
          <p:cNvPr id="3" name="Picture 2" descr="beacon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Knowledge Home with stats, recent activity, quick actions</a:t>
            </a:r>
          </a:p>
        </p:txBody>
      </p:sp>
      <p:pic>
        <p:nvPicPr>
          <p:cNvPr id="5" name="Picture 4" descr="beacon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Browse beacons by status, project, and tags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Beacon — Graph &amp; Governance</a:t>
            </a:r>
          </a:p>
        </p:txBody>
      </p:sp>
      <p:pic>
        <p:nvPicPr>
          <p:cNvPr id="3" name="Picture 2" descr="beacon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Knowledge Graph — connections via links and tag affinity</a:t>
            </a:r>
          </a:p>
        </p:txBody>
      </p:sp>
      <p:pic>
        <p:nvPicPr>
          <p:cNvPr id="5" name="Picture 4" descr="beacon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Governance dashboard — freshness score, at-risk beacons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Banter — Team Messaging</a:t>
            </a:r>
          </a:p>
        </p:txBody>
      </p:sp>
      <p:pic>
        <p:nvPicPr>
          <p:cNvPr id="3" name="Picture 2" descr="banter-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Real-time channels with rich message compose</a:t>
            </a:r>
          </a:p>
        </p:txBody>
      </p:sp>
      <p:pic>
        <p:nvPicPr>
          <p:cNvPr id="5" name="Picture 4" descr="banter-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9728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Full-text search across messages and channels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140 MCP Tools — AI Agents at Full Parity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Segoe UI"/>
              </a:defRPr>
            </a:pPr>
            <a:r>
              <a:t>Bam — 64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Segoe UI"/>
              </a:defRPr>
            </a:pPr>
            <a:r>
              <a:t>•  Tasks, sprints, comments, labels</a:t>
            </a:r>
          </a:p>
          <a:p>
            <a:pPr>
              <a:spcBef>
                <a:spcPts val="400"/>
              </a:spcBef>
              <a:defRPr sz="1500">
                <a:solidFill>
                  <a:srgbClr val="A1A1AA"/>
                </a:solidFill>
                <a:latin typeface="Segoe UI"/>
              </a:defRPr>
            </a:pPr>
            <a:r>
              <a:t>•  Board positions, bulk operations</a:t>
            </a:r>
          </a:p>
          <a:p>
            <a:pPr>
              <a:spcBef>
                <a:spcPts val="400"/>
              </a:spcBef>
              <a:defRPr sz="1500">
                <a:solidFill>
                  <a:srgbClr val="A1A1AA"/>
                </a:solidFill>
                <a:latin typeface="Segoe UI"/>
              </a:defRPr>
            </a:pPr>
            <a:r>
              <a:t>•  Sprint reports, analytics</a:t>
            </a:r>
          </a:p>
          <a:p>
            <a:pPr>
              <a:spcBef>
                <a:spcPts val="400"/>
              </a:spcBef>
              <a:defRPr sz="1500">
                <a:solidFill>
                  <a:srgbClr val="A1A1AA"/>
                </a:solidFill>
                <a:latin typeface="Segoe UI"/>
              </a:defRPr>
            </a:pPr>
            <a:r>
              <a:t>•  Members, settings,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188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Segoe UI"/>
              </a:defRPr>
            </a:pPr>
            <a:r>
              <a:t>Banter — 47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373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Segoe UI"/>
              </a:defRPr>
            </a:pPr>
            <a:r>
              <a:t>•  Channels, DMs, threads</a:t>
            </a:r>
          </a:p>
          <a:p>
            <a:pPr>
              <a:spcBef>
                <a:spcPts val="400"/>
              </a:spcBef>
              <a:defRPr sz="1500">
                <a:solidFill>
                  <a:srgbClr val="A1A1AA"/>
                </a:solidFill>
                <a:latin typeface="Segoe UI"/>
              </a:defRPr>
            </a:pPr>
            <a:r>
              <a:t>•  Messages, reactions, pins</a:t>
            </a:r>
          </a:p>
          <a:p>
            <a:pPr>
              <a:spcBef>
                <a:spcPts val="400"/>
              </a:spcBef>
              <a:defRPr sz="1500">
                <a:solidFill>
                  <a:srgbClr val="A1A1AA"/>
                </a:solidFill>
                <a:latin typeface="Segoe UI"/>
              </a:defRPr>
            </a:pPr>
            <a:r>
              <a:t>•  Voice calls, admin settings</a:t>
            </a:r>
          </a:p>
          <a:p>
            <a:pPr>
              <a:spcBef>
                <a:spcPts val="400"/>
              </a:spcBef>
              <a:defRPr sz="1500">
                <a:solidFill>
                  <a:srgbClr val="A1A1AA"/>
                </a:solidFill>
                <a:latin typeface="Segoe UI"/>
              </a:defRPr>
            </a:pPr>
            <a:r>
              <a:t>•  Retention policies,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188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D97706"/>
                </a:solidFill>
                <a:latin typeface="Segoe UI"/>
              </a:defRPr>
            </a:pPr>
            <a:r>
              <a:t>Beacon — 29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Segoe UI"/>
              </a:defRPr>
            </a:pPr>
            <a:r>
              <a:t>•  CRUD, publish, retire, verify</a:t>
            </a:r>
          </a:p>
          <a:p>
            <a:pPr>
              <a:spcBef>
                <a:spcPts val="400"/>
              </a:spcBef>
              <a:defRPr sz="1500">
                <a:solidFill>
                  <a:srgbClr val="A1A1AA"/>
                </a:solidFill>
                <a:latin typeface="Segoe UI"/>
              </a:defRPr>
            </a:pPr>
            <a:r>
              <a:t>•  Semantic + graph search</a:t>
            </a:r>
          </a:p>
          <a:p>
            <a:pPr>
              <a:spcBef>
                <a:spcPts val="400"/>
              </a:spcBef>
              <a:defRPr sz="1500">
                <a:solidFill>
                  <a:srgbClr val="A1A1AA"/>
                </a:solidFill>
                <a:latin typeface="Segoe UI"/>
              </a:defRPr>
            </a:pPr>
            <a:r>
              <a:t>•  Tags, links, saved queries</a:t>
            </a:r>
          </a:p>
          <a:p>
            <a:pPr>
              <a:spcBef>
                <a:spcPts val="400"/>
              </a:spcBef>
              <a:defRPr sz="1500">
                <a:solidFill>
                  <a:srgbClr val="A1A1AA"/>
                </a:solidFill>
                <a:latin typeface="Segoe UI"/>
              </a:defRPr>
            </a:pPr>
            <a:r>
              <a:t>•  Governance policies,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What AI Agents Can Do</a:t>
            </a:r>
          </a:p>
          <a:p>
            <a:pPr>
              <a:spcBef>
                <a:spcPts val="4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•  Create and manage tasks — set priority, assignee, move cards across phases, add subtasks</a:t>
            </a:r>
          </a:p>
          <a:p>
            <a:pPr>
              <a:spcBef>
                <a:spcPts val="4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•  Run sprints — create sprints, assign tasks, start/complete sprints, generate reports</a:t>
            </a:r>
          </a:p>
          <a:p>
            <a:pPr>
              <a:spcBef>
                <a:spcPts val="4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•  Triage helpdesk tickets — auto-create tasks, adjust priority, assign, respond to customers</a:t>
            </a:r>
          </a:p>
          <a:p>
            <a:pPr>
              <a:spcBef>
                <a:spcPts val="4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•  Manage knowledge via Beacon — create, search, verify, link, manage policies</a:t>
            </a:r>
          </a:p>
          <a:p>
            <a:pPr>
              <a:spcBef>
                <a:spcPts val="4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•  Collaborate on Banter — post to channels, reply to threads, summarize conversations</a:t>
            </a:r>
          </a:p>
          <a:p>
            <a:pPr>
              <a:spcBef>
                <a:spcPts val="4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•  Generate reports — sprint velocity, task distribution, team workload, overdue items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Deep Dive: Bam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A1A1AA"/>
                </a:solidFill>
                <a:latin typeface="Segoe UI"/>
              </a:defRPr>
            </a:pPr>
            <a:r>
              <a:t>Kanban boards, sprints, views, and team management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Board — Your Shared Workspace</a:t>
            </a:r>
          </a:p>
        </p:txBody>
      </p:sp>
      <p:pic>
        <p:nvPicPr>
          <p:cNvPr id="3" name="Picture 2" descr="03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6686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A1A1AA"/>
                </a:solidFill>
                <a:latin typeface="Segoe UI"/>
              </a:defRPr>
            </a:pPr>
            <a:r>
              <a:t>Cards flow left to right through configurable phases  ·  WIP limits prevent bottlenecks  ·  Motion spring physics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Board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5 Configurable Phases</a:t>
            </a:r>
          </a:p>
          <a:p>
            <a:pPr>
              <a:spcBef>
                <a:spcPts val="200"/>
              </a:spcBef>
              <a:defRPr sz="1300" b="0">
                <a:solidFill>
                  <a:srgbClr val="A1A1AA"/>
                </a:solidFill>
                <a:latin typeface="Segoe UI"/>
              </a:defRPr>
            </a:pPr>
            <a:r>
              <a:t>Customize column names, WIP limits, and done-states per project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  <a:latin typeface="Segoe UI"/>
              </a:defRPr>
            </a:pPr>
            <a:r>
              <a:t>Drag-and-Drop</a:t>
            </a:r>
          </a:p>
          <a:p>
            <a:pPr>
              <a:spcBef>
                <a:spcPts val="200"/>
              </a:spcBef>
              <a:defRPr sz="1300" b="0">
                <a:solidFill>
                  <a:srgbClr val="A1A1AA"/>
                </a:solidFill>
                <a:latin typeface="Segoe UI"/>
              </a:defRPr>
            </a:pPr>
            <a:r>
              <a:t>Motion spring physics — cards animate naturally between phases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  <a:latin typeface="Segoe UI"/>
              </a:defRPr>
            </a:pPr>
            <a:r>
              <a:t>Swimlanes</a:t>
            </a:r>
          </a:p>
          <a:p>
            <a:pPr>
              <a:spcBef>
                <a:spcPts val="200"/>
              </a:spcBef>
              <a:defRPr sz="1300" b="0">
                <a:solidFill>
                  <a:srgbClr val="A1A1AA"/>
                </a:solidFill>
                <a:latin typeface="Segoe UI"/>
              </a:defRPr>
            </a:pPr>
            <a:r>
              <a:t>Group by assignee, priority, or epic with collapsible rows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  <a:latin typeface="Segoe UI"/>
              </a:defRPr>
            </a:pPr>
            <a:r>
              <a:t>5 Views</a:t>
            </a:r>
          </a:p>
          <a:p>
            <a:pPr>
              <a:spcBef>
                <a:spcPts val="200"/>
              </a:spcBef>
              <a:defRPr sz="1300" b="0">
                <a:solidFill>
                  <a:srgbClr val="A1A1AA"/>
                </a:solidFill>
                <a:latin typeface="Segoe UI"/>
              </a:defRPr>
            </a:pPr>
            <a:r>
              <a:t>Board, List, Timeline, Calendar, Workload — switch without losing filters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  <a:latin typeface="Segoe UI"/>
              </a:defRPr>
            </a:pPr>
            <a:r>
              <a:t>Sprint Integration</a:t>
            </a:r>
          </a:p>
          <a:p>
            <a:pPr>
              <a:spcBef>
                <a:spcPts val="200"/>
              </a:spcBef>
              <a:defRPr sz="1300" b="0">
                <a:solidFill>
                  <a:srgbClr val="A1A1AA"/>
                </a:solidFill>
                <a:latin typeface="Segoe UI"/>
              </a:defRPr>
            </a:pPr>
            <a:r>
              <a:t>Assign tasks to sprints, track velocity, auto carry-forward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  <a:latin typeface="Segoe UI"/>
              </a:defRPr>
            </a:pPr>
            <a:r>
              <a:t>Real-time Updates</a:t>
            </a:r>
          </a:p>
          <a:p>
            <a:pPr>
              <a:spcBef>
                <a:spcPts val="200"/>
              </a:spcBef>
              <a:defRPr sz="1300" b="0">
                <a:solidFill>
                  <a:srgbClr val="A1A1AA"/>
                </a:solidFill>
                <a:latin typeface="Segoe UI"/>
              </a:defRPr>
            </a:pPr>
            <a:r>
              <a:t>WebSocket + Redis PubSub — changes broadcast instantly to all users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  <a:latin typeface="Segoe UI"/>
              </a:defRPr>
            </a:pPr>
            <a:r>
              <a:t>Optimistic UI</a:t>
            </a:r>
          </a:p>
          <a:p>
            <a:pPr>
              <a:spcBef>
                <a:spcPts val="200"/>
              </a:spcBef>
              <a:defRPr sz="1300" b="0">
                <a:solidFill>
                  <a:srgbClr val="A1A1AA"/>
                </a:solidFill>
                <a:latin typeface="Segoe UI"/>
              </a:defRPr>
            </a:pPr>
            <a:r>
              <a:t>TanStack Query mutations update immediately, rollback on failure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  <a:latin typeface="Segoe UI"/>
              </a:defRPr>
            </a:pPr>
            <a:r>
              <a:t>Keyboard Shortcuts</a:t>
            </a:r>
          </a:p>
          <a:p>
            <a:pPr>
              <a:spcBef>
                <a:spcPts val="200"/>
              </a:spcBef>
              <a:defRPr sz="1300" b="0">
                <a:solidFill>
                  <a:srgbClr val="A1A1AA"/>
                </a:solidFill>
                <a:latin typeface="Segoe UI"/>
              </a:defRPr>
            </a:pPr>
            <a:r>
              <a:t>Ctrl+K command palette, vim-style navigation</a:t>
            </a:r>
          </a:p>
        </p:txBody>
      </p:sp>
      <p:pic>
        <p:nvPicPr>
          <p:cNvPr id="4" name="Picture 3" descr="13-board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Detail — Everything in One Drawer</a:t>
            </a:r>
          </a:p>
        </p:txBody>
      </p:sp>
      <p:pic>
        <p:nvPicPr>
          <p:cNvPr id="3" name="Picture 2" descr="04-task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6686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A1A1AA"/>
                </a:solidFill>
                <a:latin typeface="Segoe UI"/>
              </a:defRPr>
            </a:pPr>
            <a:r>
              <a:t>Rich text  ·  Subtasks  ·  File attachments  ·  Comments with reactions  ·  Activity feed  ·  Custom fields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Sprints &amp; Analytics</a:t>
            </a:r>
          </a:p>
        </p:txBody>
      </p:sp>
      <p:pic>
        <p:nvPicPr>
          <p:cNvPr id="3" name="Picture 2" descr="09-projec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Project dashboard — velocity, burndown, priority breakdown</a:t>
            </a:r>
          </a:p>
        </p:txBody>
      </p:sp>
      <p:pic>
        <p:nvPicPr>
          <p:cNvPr id="5" name="Picture 4" descr="10-my-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My Work — cross-project task list, grouped by project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Deep Dive: People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A1A1AA"/>
                </a:solidFill>
                <a:latin typeface="Segoe UI"/>
              </a:defRPr>
            </a:pPr>
            <a:r>
              <a:t>Organization management, API keys, SuperUser console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People Management</a:t>
            </a:r>
          </a:p>
        </p:txBody>
      </p:sp>
      <p:pic>
        <p:nvPicPr>
          <p:cNvPr id="3" name="Picture 2" descr="people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Searchable list with role/status filters and bulk actions</a:t>
            </a:r>
          </a:p>
        </p:txBody>
      </p:sp>
      <p:pic>
        <p:nvPicPr>
          <p:cNvPr id="5" name="Picture 4" descr="people-detail-a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Access tab — API keys, sessions, password management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SuperUser Platform Console</a:t>
            </a:r>
          </a:p>
        </p:txBody>
      </p:sp>
      <p:pic>
        <p:nvPicPr>
          <p:cNvPr id="3" name="Picture 2" descr="superuser-context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Context-switched into another org — red banner warns operators</a:t>
            </a:r>
          </a:p>
        </p:txBody>
      </p:sp>
      <p:pic>
        <p:nvPicPr>
          <p:cNvPr id="5" name="Picture 4" descr="superuser-people-ses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Active sessions with IP, device, and revoke controls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Deep Dive: Helpdesk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A1A1AA"/>
                </a:solidFill>
                <a:latin typeface="Segoe UI"/>
              </a:defRPr>
            </a:pPr>
            <a:r>
              <a:t>Customer-facing support portal with AI triage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Helpdesk → Board Pipeline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Customer submits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Segoe UI"/>
              </a:defRPr>
            </a:pPr>
            <a:r>
              <a:t>Client reports issue via the helpdesk portal</a:t>
            </a:r>
            <a:br/>
            <a:r>
              <a:t>with category, priority, and description.</a:t>
            </a:r>
          </a:p>
        </p:txBody>
      </p:sp>
      <p:sp>
        <p:nvSpPr>
          <p:cNvPr id="6" name="Oval 5"/>
          <p:cNvSpPr/>
          <p:nvPr/>
        </p:nvSpPr>
        <p:spPr>
          <a:xfrm>
            <a:off x="4297680" y="128016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AI agent triages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0116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Segoe UI"/>
              </a:defRPr>
            </a:pPr>
            <a:r>
              <a:t>A task is auto-created on the board.</a:t>
            </a:r>
            <a:br/>
            <a:r>
              <a:t>AI sets priority, assigns, and responds.</a:t>
            </a:r>
          </a:p>
        </p:txBody>
      </p:sp>
      <p:sp>
        <p:nvSpPr>
          <p:cNvPr id="9" name="Oval 8"/>
          <p:cNvSpPr/>
          <p:nvPr/>
        </p:nvSpPr>
        <p:spPr>
          <a:xfrm>
            <a:off x="8138160" y="128016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2801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Board syncs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0116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Segoe UI"/>
              </a:defRPr>
            </a:pPr>
            <a:r>
              <a:t>Moving the task through phases auto-updates</a:t>
            </a:r>
            <a:br/>
            <a:r>
              <a:t>the ticket status. Clients see progress.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Helpdesk Portal</a:t>
            </a:r>
          </a:p>
        </p:txBody>
      </p:sp>
      <p:pic>
        <p:nvPicPr>
          <p:cNvPr id="3" name="Picture 2" descr="16-helpdesk-ti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Customer ticket list with status and priority</a:t>
            </a:r>
          </a:p>
        </p:txBody>
      </p:sp>
      <p:pic>
        <p:nvPicPr>
          <p:cNvPr id="5" name="Picture 4" descr="18-helpdesk-detail-convers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Threaded conversation — agent and client messages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Deep Dive: Beacon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A1A1AA"/>
                </a:solidFill>
                <a:latin typeface="Segoe UI"/>
              </a:defRPr>
            </a:pPr>
            <a:r>
              <a:t>Knowledge base with expiry governance and semantic search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Knowledge Home</a:t>
            </a:r>
          </a:p>
        </p:txBody>
      </p:sp>
      <p:pic>
        <p:nvPicPr>
          <p:cNvPr id="3" name="Picture 2" descr="beacon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6686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A1A1AA"/>
                </a:solidFill>
                <a:latin typeface="Segoe UI"/>
              </a:defRPr>
            </a:pPr>
            <a:r>
              <a:t>4,396 beacons  ·  440 at risk  ·  1,087 recently updated  ·  Quick actions and recent activity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Beacon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Expiry Governance</a:t>
            </a:r>
          </a:p>
          <a:p>
            <a:pPr>
              <a:spcBef>
                <a:spcPts val="200"/>
              </a:spcBef>
              <a:defRPr sz="1300" b="0">
                <a:solidFill>
                  <a:srgbClr val="A1A1AA"/>
                </a:solidFill>
                <a:latin typeface="Segoe UI"/>
              </a:defRPr>
            </a:pPr>
            <a:r>
              <a:t>Every beacon has a shelf life. Stale knowledge is surfaced before it misleads.</a:t>
            </a:r>
          </a:p>
          <a:p>
            <a:pPr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Semantic + Graph Search</a:t>
            </a:r>
          </a:p>
          <a:p>
            <a:pPr>
              <a:spcBef>
                <a:spcPts val="200"/>
              </a:spcBef>
              <a:defRPr sz="1300" b="0">
                <a:solidFill>
                  <a:srgbClr val="A1A1AA"/>
                </a:solidFill>
                <a:latin typeface="Segoe UI"/>
              </a:defRPr>
            </a:pPr>
            <a:r>
              <a:t>Hybrid retrieval: vector similarity (Qdrant), graph expansion, full-text fallback.</a:t>
            </a:r>
          </a:p>
          <a:p>
            <a:pPr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Knowledge Graph Explorer</a:t>
            </a:r>
          </a:p>
          <a:p>
            <a:pPr>
              <a:spcBef>
                <a:spcPts val="200"/>
              </a:spcBef>
              <a:defRPr sz="1300" b="0">
                <a:solidFill>
                  <a:srgbClr val="A1A1AA"/>
                </a:solidFill>
                <a:latin typeface="Segoe UI"/>
              </a:defRPr>
            </a:pPr>
            <a:r>
              <a:t>Visualize connections via typed links and implicit tag-affinity edges.</a:t>
            </a:r>
          </a:p>
          <a:p>
            <a:pPr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Agent Verification</a:t>
            </a:r>
          </a:p>
          <a:p>
            <a:pPr>
              <a:spcBef>
                <a:spcPts val="200"/>
              </a:spcBef>
              <a:defRPr sz="1300" b="0">
                <a:solidFill>
                  <a:srgbClr val="A1A1AA"/>
                </a:solidFill>
                <a:latin typeface="Segoe UI"/>
              </a:defRPr>
            </a:pPr>
            <a:r>
              <a:t>AI agents verify and challenge beacons within confidence bounds.</a:t>
            </a:r>
          </a:p>
          <a:p>
            <a:pPr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Versioned Content</a:t>
            </a:r>
          </a:p>
          <a:p>
            <a:pPr>
              <a:spcBef>
                <a:spcPts val="200"/>
              </a:spcBef>
              <a:defRPr sz="1300" b="0">
                <a:solidFill>
                  <a:srgbClr val="A1A1AA"/>
                </a:solidFill>
                <a:latin typeface="Segoe UI"/>
              </a:defRPr>
            </a:pPr>
            <a:r>
              <a:t>Every edit creates a new version with full diff history.</a:t>
            </a:r>
          </a:p>
          <a:p>
            <a:pPr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Governance Policies</a:t>
            </a:r>
          </a:p>
          <a:p>
            <a:pPr>
              <a:spcBef>
                <a:spcPts val="200"/>
              </a:spcBef>
              <a:defRPr sz="1300" b="0">
                <a:solidFill>
                  <a:srgbClr val="A1A1AA"/>
                </a:solidFill>
                <a:latin typeface="Segoe UI"/>
              </a:defRPr>
            </a:pPr>
            <a:r>
              <a:t>Org-level defaults with project-level overrides for verification intervals.</a:t>
            </a:r>
          </a:p>
          <a:p>
            <a:pPr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Saved Queries</a:t>
            </a:r>
          </a:p>
          <a:p>
            <a:pPr>
              <a:spcBef>
                <a:spcPts val="200"/>
              </a:spcBef>
              <a:defRPr sz="1300" b="0">
                <a:solidFill>
                  <a:srgbClr val="A1A1AA"/>
                </a:solidFill>
                <a:latin typeface="Segoe UI"/>
              </a:defRPr>
            </a:pPr>
            <a:r>
              <a:t>Named search configurations — private, project, or org-scoped.</a:t>
            </a:r>
          </a:p>
        </p:txBody>
      </p:sp>
      <p:pic>
        <p:nvPicPr>
          <p:cNvPr id="4" name="Picture 3" descr="beacon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Knowledge Graph Explorer</a:t>
            </a:r>
          </a:p>
        </p:txBody>
      </p:sp>
      <p:pic>
        <p:nvPicPr>
          <p:cNvPr id="3" name="Picture 2" descr="beacon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6686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A1A1AA"/>
                </a:solidFill>
                <a:latin typeface="Segoe UI"/>
              </a:defRPr>
            </a:pPr>
            <a:r>
              <a:t>Hub nodes sized by authority  ·  Freshness-colored rings  ·  At-risk pulsing  ·  Implicit + explicit edges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Browse &amp; Search</a:t>
            </a:r>
          </a:p>
        </p:txBody>
      </p:sp>
      <p:pic>
        <p:nvPicPr>
          <p:cNvPr id="3" name="Picture 2" descr="beacon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Browse by status, project, tags — infinite scroll pagination</a:t>
            </a:r>
          </a:p>
        </p:txBody>
      </p:sp>
      <p:pic>
        <p:nvPicPr>
          <p:cNvPr id="5" name="Picture 4" descr="beacon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Semantic search with multi-signal retrieval pipeline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Deep Dive: Banter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A1A1AA"/>
                </a:solidFill>
                <a:latin typeface="Segoe UI"/>
              </a:defRPr>
            </a:pPr>
            <a:r>
              <a:t>Real-time team messaging with AI agent participation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Channels &amp; Search</a:t>
            </a:r>
          </a:p>
        </p:txBody>
      </p:sp>
      <p:pic>
        <p:nvPicPr>
          <p:cNvPr id="3" name="Picture 2" descr="banter-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Real-time channels with rich compose and member list</a:t>
            </a:r>
          </a:p>
        </p:txBody>
      </p:sp>
      <p:pic>
        <p:nvPicPr>
          <p:cNvPr id="5" name="Picture 4" descr="banter-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9728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Full-text search across all messages and channels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Admin &amp; Discovery</a:t>
            </a:r>
          </a:p>
        </p:txBody>
      </p:sp>
      <p:pic>
        <p:nvPicPr>
          <p:cNvPr id="3" name="Picture 2" descr="banter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Admin panel — channel management and retention policies</a:t>
            </a:r>
          </a:p>
        </p:txBody>
      </p:sp>
      <p:pic>
        <p:nvPicPr>
          <p:cNvPr id="5" name="Picture 4" descr="banter-brow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309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Browse and discover channels across the organization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Why Not Just Use Slack?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1A1AA"/>
                </a:solidFill>
                <a:latin typeface="Segoe UI"/>
              </a:defRPr>
            </a:pPr>
            <a:r>
              <a:t>Because Banter shares authentication, database, and deep cross-linking with BigBlueBam.</a:t>
            </a:r>
          </a:p>
          <a:p>
            <a:pPr>
              <a:spcBef>
                <a:spcPts val="400"/>
              </a:spcBef>
              <a:defRPr sz="1600">
                <a:solidFill>
                  <a:srgbClr val="A1A1AA"/>
                </a:solidFill>
                <a:latin typeface="Segoe UI"/>
              </a:defRPr>
            </a:pPr>
            <a:r>
              <a:t>•  Mention BBB-247 in a channel → links directly to the task</a:t>
            </a:r>
          </a:p>
          <a:p>
            <a:pPr>
              <a:spcBef>
                <a:spcPts val="400"/>
              </a:spcBef>
              <a:defRPr sz="1600">
                <a:solidFill>
                  <a:srgbClr val="A1A1AA"/>
                </a:solidFill>
                <a:latin typeface="Segoe UI"/>
              </a:defRPr>
            </a:pPr>
            <a:r>
              <a:t>•  AI agent triages a helpdesk ticket → posts update to #support-triage</a:t>
            </a:r>
          </a:p>
          <a:p>
            <a:pPr>
              <a:spcBef>
                <a:spcPts val="400"/>
              </a:spcBef>
              <a:defRPr sz="1600">
                <a:solidFill>
                  <a:srgbClr val="A1A1AA"/>
                </a:solidFill>
                <a:latin typeface="Segoe UI"/>
              </a:defRPr>
            </a:pPr>
            <a:r>
              <a:t>•  Sprint reports shared to channels with one click</a:t>
            </a:r>
          </a:p>
          <a:p>
            <a:pPr>
              <a:spcBef>
                <a:spcPts val="400"/>
              </a:spcBef>
              <a:defRPr sz="1600">
                <a:solidFill>
                  <a:srgbClr val="A1A1AA"/>
                </a:solidFill>
                <a:latin typeface="Segoe UI"/>
              </a:defRPr>
            </a:pPr>
            <a:r>
              <a:t>•  No webhooks, no bridges, no sync lag</a:t>
            </a:r>
          </a:p>
          <a:p>
            <a:pPr>
              <a:spcBef>
                <a:spcPts val="400"/>
              </a:spcBef>
              <a:defRPr sz="1600">
                <a:solidFill>
                  <a:srgbClr val="A1A1AA"/>
                </a:solidFill>
                <a:latin typeface="Segoe UI"/>
              </a:defRPr>
            </a:pPr>
            <a:r>
              <a:t>•  AI agents participate natively — same MCP tools, same permissions</a:t>
            </a:r>
          </a:p>
          <a:p>
            <a:pPr>
              <a:spcBef>
                <a:spcPts val="400"/>
              </a:spcBef>
              <a:defRPr sz="1600">
                <a:solidFill>
                  <a:srgbClr val="A1A1AA"/>
                </a:solidFill>
                <a:latin typeface="Segoe UI"/>
              </a:defRPr>
            </a:pPr>
            <a:r>
              <a:t>•  47 dedicated MCP tools for messaging automation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Deep Dive: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A1A1AA"/>
                </a:solidFill>
                <a:latin typeface="Segoe UI"/>
              </a:defRPr>
            </a:pPr>
            <a:r>
              <a:t>Architecture, infrastructure, and developer experience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3657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Segoe UI"/>
              </a:defRPr>
            </a:pPr>
            <a:r>
              <a:t>Frontend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830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Segoe UI"/>
              </a:defRPr>
            </a:pPr>
            <a:r>
              <a:t>•  React 19 SPAs (Bam, Helpdesk, Beacon, Banter)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 TailwindCSS v4  ·  Motion (Framer Motion v11+)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 TanStack Query v5  ·  Zustand  ·  dnd-kit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 Radix UI  ·  Tiptap rich text  ·  Zod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097280"/>
            <a:ext cx="36576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1234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6A34A"/>
                </a:solidFill>
                <a:latin typeface="Segoe UI"/>
              </a:defRPr>
            </a:pPr>
            <a:r>
              <a:t>API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7830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Segoe UI"/>
              </a:defRPr>
            </a:pPr>
            <a:r>
              <a:t>•  Node.js 22 LTS  ·  Fastify v5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 Drizzle ORM  ·  Zod (shared with frontend)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 WebSocket + Redis PubSub (real-time)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 BullMQ worker (email, export, notifications)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097280"/>
            <a:ext cx="36576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234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Data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7830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Segoe UI"/>
              </a:defRPr>
            </a:pPr>
            <a:r>
              <a:t>•  PostgreSQL 16 (RLS, JSONB, partitioned logs)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 Redis 7 (sessions, cache, PubSub, queues)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 MinIO / S3 (file attachments)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 Qdrant (vector search for Beacon)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062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14800"/>
            <a:ext cx="11430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75488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Segoe UI"/>
              </a:defRPr>
            </a:pPr>
            <a:r>
              <a:t>•  Docker Compose — 14 services, single docker compose up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 nginx reverse proxy — all SPAs and APIs behind one port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 Turborepo + pnpm workspaces monorepo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 Multi-stage Dockerfiles — dev and production modes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 LiveKit SFU for voice/video  ·  Python voice agent (STT/TTS)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 MCP Server — Streamable HTTP + SSE + stdio transports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Key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2563EB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1A1AA"/>
                </a:solidFill>
                <a:latin typeface="Segoe UI"/>
              </a:defRPr>
            </a:pPr>
            <a:r>
              <a:t>Docker</a:t>
            </a:r>
            <a:br/>
            <a: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3716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7C3AED"/>
                </a:solidFill>
                <a:latin typeface="Segoe UI"/>
              </a:defRPr>
            </a:pPr>
            <a: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286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1A1AA"/>
                </a:solidFill>
                <a:latin typeface="Segoe UI"/>
              </a:defRPr>
            </a:pPr>
            <a:r>
              <a:t>MCP</a:t>
            </a:r>
            <a:br/>
            <a:r>
              <a:t>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3716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6A34A"/>
                </a:solidFill>
                <a:latin typeface="Segoe UI"/>
              </a:defRPr>
            </a:pPr>
            <a:r>
              <a:t>530+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86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1A1AA"/>
                </a:solidFill>
                <a:latin typeface="Segoe UI"/>
              </a:defRPr>
            </a:pPr>
            <a:r>
              <a:t>Test</a:t>
            </a:r>
            <a:br/>
            <a:r>
              <a:t>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D97706"/>
                </a:solidFill>
                <a:latin typeface="Segoe UI"/>
              </a:defRPr>
            </a:pPr>
            <a:r>
              <a:t>40+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1A1AA"/>
                </a:solidFill>
                <a:latin typeface="Segoe UI"/>
              </a:defRPr>
            </a:pPr>
            <a:r>
              <a:t>Database</a:t>
            </a:r>
            <a:br/>
            <a:r>
              <a:t>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2563E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1A1AA"/>
                </a:solidFill>
                <a:latin typeface="Segoe UI"/>
              </a:defRPr>
            </a:pPr>
            <a:r>
              <a:t>React</a:t>
            </a:r>
            <a:br/>
            <a:r>
              <a:t>SPAs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13716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6A34A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286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1A1AA"/>
                </a:solidFill>
                <a:latin typeface="Segoe UI"/>
              </a:defRPr>
            </a:pPr>
            <a:r>
              <a:t>API Route</a:t>
            </a:r>
            <a:br/>
            <a:r>
              <a:t>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Monorepo Structure</a:t>
            </a:r>
          </a:p>
          <a:p>
            <a:pPr>
              <a:spcBef>
                <a:spcPts val="400"/>
              </a:spcBef>
              <a:defRPr sz="600" b="0">
                <a:solidFill>
                  <a:srgbClr val="18181B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 apps/api/ — Bam Fastify REST API + WebSocket (23 route modules, ~63 source files)</a:t>
            </a:r>
          </a:p>
          <a:p>
            <a:pPr>
              <a:spcBef>
                <a:spcPts val="4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 apps/frontend/ — Bam React SPA (~55 source files, 8 pages, command palette)</a:t>
            </a:r>
          </a:p>
          <a:p>
            <a:pPr>
              <a:spcBef>
                <a:spcPts val="4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 apps/banter-api/ — Banter Fastify API + WebSocket (15 routes, 18 DB tables)</a:t>
            </a:r>
          </a:p>
          <a:p>
            <a:pPr>
              <a:spcBef>
                <a:spcPts val="4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 apps/banter/ — Banter React SPA (14 components, 7 pages)</a:t>
            </a:r>
          </a:p>
          <a:p>
            <a:pPr>
              <a:spcBef>
                <a:spcPts val="4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 apps/beacon-api/ — Beacon Fastify API (knowledge base, search, graph, policies)</a:t>
            </a:r>
          </a:p>
          <a:p>
            <a:pPr>
              <a:spcBef>
                <a:spcPts val="4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 apps/beacon/ — Beacon React SPA (knowledge home, graph explorer, editor)</a:t>
            </a:r>
          </a:p>
          <a:p>
            <a:pPr>
              <a:spcBef>
                <a:spcPts val="4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 apps/helpdesk-api/ + apps/helpdesk/ — Customer support portal</a:t>
            </a:r>
          </a:p>
          <a:p>
            <a:pPr>
              <a:spcBef>
                <a:spcPts val="4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 apps/mcp-server/ — MCP protocol server (140 tools, 10+ resources, 8 prompts)</a:t>
            </a:r>
          </a:p>
          <a:p>
            <a:pPr>
              <a:spcBef>
                <a:spcPts val="4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 apps/worker/ — BullMQ background jobs (email, notifications, export, retention)</a:t>
            </a:r>
          </a:p>
          <a:p>
            <a:pPr>
              <a:spcBef>
                <a:spcPts val="4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 packages/shared/ — Zod schemas, TypeScript types, constants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0" y="1645920"/>
            <a:ext cx="91440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b="1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BigBlueBam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A1A1AA"/>
                </a:solidFill>
                <a:latin typeface="Segoe UI"/>
              </a:defRPr>
            </a:pPr>
            <a:r>
              <a:t>Project management built for human-AI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2525B"/>
                </a:solidFill>
                <a:latin typeface="Segoe UI"/>
              </a:defRPr>
            </a:pPr>
            <a:r>
              <a:t>localhost/b3/  ·  localhost/beacon/  ·  localhost/banter/  ·  localhost/helpdesk/</a:t>
            </a:r>
          </a:p>
          <a:p>
            <a:pPr algn="ctr">
              <a:spcBef>
                <a:spcPts val="1600"/>
              </a:spcBef>
              <a:defRPr sz="1800" b="0">
                <a:solidFill>
                  <a:srgbClr val="A1A1AA"/>
                </a:solidFill>
                <a:latin typeface="Segoe UI"/>
              </a:defRPr>
            </a:pPr>
            <a:r>
              <a:t>docker compose up  — and you're running.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